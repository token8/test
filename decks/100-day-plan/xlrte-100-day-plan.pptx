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Minutes per case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Nunito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</c:v>
                  </c:pt>
                  <c:pt idx="1">
                    <c:v>W1</c:v>
                  </c:pt>
                  <c:pt idx="2">
                    <c:v>W2</c:v>
                  </c:pt>
                  <c:pt idx="3">
                    <c:v>W3</c:v>
                  </c:pt>
                  <c:pt idx="4">
                    <c:v>W4</c:v>
                  </c:pt>
                  <c:pt idx="5">
                    <c:v>W5</c:v>
                  </c:pt>
                  <c:pt idx="6">
                    <c:v>W6</c:v>
                  </c:pt>
                  <c:pt idx="7">
                    <c:v>W7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</c:v>
                </c:pt>
                <c:pt idx="1">
                  <c:v>24</c:v>
                </c:pt>
                <c:pt idx="2">
                  <c:v>23</c:v>
                </c:pt>
                <c:pt idx="3">
                  <c:v>22</c:v>
                </c:pt>
                <c:pt idx="4">
                  <c:v>20</c:v>
                </c:pt>
                <c:pt idx="5">
                  <c:v>19</c:v>
                </c:pt>
                <c:pt idx="6">
                  <c:v>18</c:v>
                </c:pt>
                <c:pt idx="7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Nunito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DBDB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Nunito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in 100 days the board sees AI running in production under the same governance as every other service. All client names and figures in this deck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Gates follow PMI stage-gate practice: the steering committee decides go / adjust / stop at Days 15, 45 and 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chevron is the ITIL value stream: every request flows from demand to value through all four layers. Terminology follows ITIL practices; confirm naming against the ITIL (version 5) publication used by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DBDB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pic>
        <p:nvPicPr>
          <p:cNvPr id="4" name="Image 0" descr="XL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172032" cy="2743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45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4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74980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pic>
        <p:nvPicPr>
          <p:cNvPr id="4" name="Image 0" descr="XL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546948" cy="128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pic>
        <p:nvPicPr>
          <p:cNvPr id="4" name="Image 0" descr="XLR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546948" cy="12801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From AI ambition to operating reality in 100 days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100-day plan &amp; operating model · Executive Board · Example client: Nordhafen Logistik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After 100 days: proof, not a PowerPoint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use cases live in production, each with a named business owner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6060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operating model agreed, staffed and running under ITIL &amp; PMI practices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457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−30 %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6060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handling time in the pilot process, measured weekly against baseline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159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Illustrative targets. Confirmed at Gate 1 (Day 15) once the baseline is measured.</a:t>
            </a:r>
            <a:endParaRPr lang="en-US" sz="9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Trust comes from visibility, not from promises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931920" cy="13258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42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plan, one owner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Executive sponsor, steering committee and three stage gates (PMI). Every decision has a date and an owner.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3258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42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 before technology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057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Each AI use case becomes a managed service with an owner, service levels and a change path (ITIL).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3931920" cy="13258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42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Humans stay in the loop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5387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proposes, people decide. Every automated decision is explainable, reviewable and reversible.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807208"/>
            <a:ext cx="3931920" cy="13258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990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42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3218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Measured every week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5387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One scorecard for value, service, delivery and adoption, from Day 15 until handover.</a:t>
            </a:r>
            <a:endParaRPr lang="en-US" sz="1100" dirty="0"/>
          </a:p>
        </p:txBody>
      </p:sp>
      <p:sp>
        <p:nvSpPr>
          <p:cNvPr id="19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— THE PLAN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Four phases, three decision gates, one steering rhythm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100 days, four phases, three board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5214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014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Mobilise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07592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Day 1–15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Sponsor &amp; steering set up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Stakeholder interviews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Baseline measured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55648" y="1600200"/>
            <a:ext cx="235915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47088" y="160020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Diagnose &amp; design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30759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Day 16–45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755648" y="228600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Use-case portfolio ranked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Target operating model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Data &amp; risk assessment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9664" y="1600200"/>
            <a:ext cx="2761488" cy="5029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61104" y="1600200"/>
            <a:ext cx="2624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Pilot &amp; prove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169664" y="1307592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Day 46–80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169664" y="2286000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pilots in production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Services onboarded (ITIL)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Weekly value tracking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86016" y="160020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77456" y="1600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Scale &amp; hand over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986016" y="13075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Day 81–100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86016" y="228600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Roadmap for next 12 months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Team trained</a:t>
            </a:r>
            <a:endParaRPr lang="en-US" sz="10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Run handed to owners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28216" y="2148840"/>
            <a:ext cx="0" cy="1691640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316736" y="3913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Gate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42232" y="2148840"/>
            <a:ext cx="0" cy="1691640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3730752" y="3913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Gate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58584" y="2148840"/>
            <a:ext cx="0" cy="1691640"/>
          </a:xfrm>
          <a:prstGeom prst="line">
            <a:avLst/>
          </a:prstGeom>
          <a:noFill/>
          <a:ln w="9525">
            <a:solidFill>
              <a:srgbClr val="1A1A1A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547104" y="39136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Gate 3</a:t>
            </a:r>
            <a:endParaRPr lang="en-US" sz="100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Deliverables and decisions per phase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6517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Phase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Key deliverables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Board decision at the gate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Mobilise  ·  Day 1–15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Project charter, stakeholder map, RACI, KPI baseline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Gate 1: confirm scope, targets and budget envelope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Diagnose &amp; design  ·  16–45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Ranked use-case portfolio, target operating model, risk &amp; compliance assessment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Gate 2: select 3 pilots, approve operating model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Pilot &amp; prove  ·  46–80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 pilots live as managed services, change &amp; incident paths, weekly scorecard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Gate 3: scale, adjust or stop each pilot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Scale &amp; hand over  ·  81–100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12-month roadmap, trained owners, service levels in force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Approve roadmap and run budget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— THE OPERATING MODEL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Who decides, who delivers, who runs it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operating model, one flow of value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720840" cy="640080"/>
          </a:xfrm>
          <a:prstGeom prst="rect">
            <a:avLst/>
          </a:prstGeom>
          <a:solidFill>
            <a:srgbClr val="F4F4F4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356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GOVERN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73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PMI governance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258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Executive sponsor · AI steering committee (fortnightly) · portfolio board with stage gates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6720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854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DELIVER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PMI delivery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0756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PMO · hybrid delivery: agile sprints inside stage gates · risk &amp; benefits registers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6720840" cy="640080"/>
          </a:xfrm>
          <a:prstGeom prst="rect">
            <a:avLst/>
          </a:prstGeom>
          <a:solidFill>
            <a:srgbClr val="F4F4F4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352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RUN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17296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ITIL practices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82549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Service desk · incident · change enablement · service level management · continual improvement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75304"/>
            <a:ext cx="67208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ENABLE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2277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Platform &amp; data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35753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 &amp; data platform · security &amp; privacy · model monitoring · vendor management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325880"/>
            <a:ext cx="1051560" cy="2651760"/>
          </a:xfrm>
          <a:prstGeom prst="chevron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4023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Demand → value</a:t>
            </a:r>
            <a:endParaRPr lang="en-US" sz="11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Clear accountability from day one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Decision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Sponsor (CEO)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CIO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CISO / DPO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Business owner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XLRTE PMO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Service owner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Prioritise use cases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Change scope or budget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Go-live of an AI service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Change to production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Data access &amp; privacy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Service levels &amp; incidents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6B6B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 Responsible   A Accountable   C Consulted   I Informed</a:t>
            </a:r>
            <a:endParaRPr lang="en-US" sz="9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— PROOF AND CONTROL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9202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How you will know it works, every week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pilot pays back: handling time down 30 %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47548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2801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Average handling time per case, pilot process (minutes)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0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442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WEEKLY SCORECARD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691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Value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947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Hours saved · cost per case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313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Service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569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SLA met · change success rate · time to restore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Delivery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3191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Milestones on time · budget variance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35570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Adoption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3813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Active users · tasks handled with AI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3159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Illustrative data.</a:t>
            </a:r>
            <a:endParaRPr lang="en-US" sz="9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Risks managed from day one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Risk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Early signal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How we manage it</a:t>
                      </a:r>
                      <a:endParaRPr lang="en-US" sz="105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Data not fit for AI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Gaps found in data assessment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Data readiness check in Diagnose; pilots only where data passes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Low adoption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Active users flat after week 2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Business owner per use case; training; human-in-the-loop design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Compliance (EU AI Act, GDPR)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Use case touches personal data or high-risk category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CISO/DPO accountable; risk classification before Gate 2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Vendor lock-in &amp; cost creep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Run cost per case above plan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Open interfaces; cost per case on the weekly scorecard</a:t>
                      </a:r>
                      <a:endParaRPr lang="en-US" sz="10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we need from you in the first 10 days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325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Name the executive sponsor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3258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CEO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13258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Day 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19656"/>
            <a:ext cx="80467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9280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Confirm steering committee and fortnightly cadence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8928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Sponsor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8928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Day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86584"/>
            <a:ext cx="80467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4597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45973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Grant access to data, systems and process owners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45973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CIO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45973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Day 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53512"/>
            <a:ext cx="80467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026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02666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Nominate business owners for candidate use cases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02666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Board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302666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Day 7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8046720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5935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5935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Approve the pilot budget envelope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5935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CFO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35935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Day 10</a:t>
            </a:r>
            <a:endParaRPr lang="en-US" sz="1200" dirty="0"/>
          </a:p>
        </p:txBody>
      </p:sp>
      <p:sp>
        <p:nvSpPr>
          <p:cNvPr id="27" name="Text 0"/>
          <p:cNvSpPr/>
          <p:nvPr>
            <p:ph idx="101" type="body" hasCustomPrompt="1"/>
          </p:nvPr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Let's make the first 100 days count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DBDBD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P·E  ·  XLRTE  ·  name@example.com</a:t>
            </a:r>
            <a:endParaRPr lang="en-US" sz="1800" dirty="0"/>
          </a:p>
        </p:txBody>
      </p:sp>
      <p:pic>
        <p:nvPicPr>
          <p:cNvPr id="4" name="Image 0" descr="P·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116" y="4526280"/>
            <a:ext cx="355244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XLRTE: 100-day plan &amp; operating model</dc:title>
  <dc:subject>PptxGenJS Presentation</dc:subject>
  <dc:creator>PptxGenJS</dc:creator>
  <cp:lastModifiedBy>PptxGenJS</cp:lastModifiedBy>
  <cp:revision>1</cp:revision>
  <dcterms:created xsi:type="dcterms:W3CDTF">2026-09-24T12:22:00Z</dcterms:created>
  <dcterms:modified xsi:type="dcterms:W3CDTF">2026-09-24T12:22:00Z</dcterms:modified>
</cp:coreProperties>
</file>