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(k€)</c:v>
                </c:pt>
              </c:strCache>
            </c:strRef>
          </c:tx>
          <c:spPr>
            <a:solidFill>
              <a:srgbClr val="BDBDB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A1A1A"/>
                    </a:solidFill>
                    <a:latin typeface="Nunito Sans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BDBDBD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BDBDBD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BDBDBD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BDBDBD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4572E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BDBDBD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Q1</c:v>
                  </c:pt>
                  <c:pt idx="1">
                    <c:v>Q2</c:v>
                  </c:pt>
                  <c:pt idx="2">
                    <c:v>Q3</c:v>
                  </c:pt>
                  <c:pt idx="3">
                    <c:v>Q4</c:v>
                  </c:pt>
                  <c:pt idx="4">
                    <c:v>Q5</c:v>
                  </c:pt>
                  <c:pt idx="5">
                    <c:v>Q6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42</c:v>
                </c:pt>
                <c:pt idx="1">
                  <c:v>48</c:v>
                </c:pt>
                <c:pt idx="2">
                  <c:v>45</c:v>
                </c:pt>
                <c:pt idx="3">
                  <c:v>51</c:v>
                </c:pt>
                <c:pt idx="4">
                  <c:v>68</c:v>
                </c:pt>
                <c:pt idx="5">
                  <c:v>55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A1A1A"/>
                  </a:solidFill>
                  <a:latin typeface="Nunito Sans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DBDBD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6B6B"/>
                </a:solidFill>
                <a:latin typeface="Nunito San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463040"/>
            <a:ext cx="749808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Jost" pitchFamily="34" charset="0"/>
                <a:ea typeface="Jost" pitchFamily="34" charset="-122"/>
                <a:cs typeface="Jost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880360"/>
            <a:ext cx="749808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rgbClr val="BDBDBD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  <p:pic>
        <p:nvPicPr>
          <p:cNvPr id="4" name="Image 0" descr="/home/user/test/brand/templates/../logo/xlrte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48640"/>
            <a:ext cx="1172032" cy="27432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rgbClr val="E457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554480"/>
            <a:ext cx="54864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400" spc="400" kern="0" dirty="0">
                <a:solidFill>
                  <a:srgbClr val="1A1A1A"/>
                </a:solidFill>
                <a:latin typeface="Jost" pitchFamily="34" charset="0"/>
                <a:ea typeface="Jost" pitchFamily="34" charset="-122"/>
                <a:cs typeface="Jost" pitchFamily="34" charset="-120"/>
              </a:defRPr>
            </a:lvl1pPr>
          </a:lstStyle>
          <a:p>
            <a:pPr indent="0" marL="0">
              <a:buNone/>
            </a:pP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920240"/>
            <a:ext cx="749808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rgbClr val="FFFFFF"/>
                </a:solidFill>
                <a:latin typeface="Jost" pitchFamily="34" charset="0"/>
                <a:ea typeface="Jost" pitchFamily="34" charset="-122"/>
                <a:cs typeface="Jost" pitchFamily="34" charset="-120"/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pic>
        <p:nvPicPr>
          <p:cNvPr id="4" name="Image 0" descr="/home/user/test/brand/templates/../logo/xlrte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681728"/>
            <a:ext cx="546948" cy="12801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804672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A1A1A"/>
                </a:solidFill>
                <a:latin typeface="Jost" pitchFamily="34" charset="0"/>
                <a:ea typeface="Jost" pitchFamily="34" charset="-122"/>
                <a:cs typeface="Jost" pitchFamily="34" charset="-120"/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371600"/>
            <a:ext cx="8046720" cy="3108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1A1A1A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defRPr>
            </a:lvl1pPr>
          </a:lstStyle>
          <a:p>
            <a:pPr indent="0" marL="0">
              <a:buNone/>
            </a:pPr>
            <a:endParaRPr lang="en-US" sz="1600" dirty="0"/>
          </a:p>
        </p:txBody>
      </p:sp>
      <p:pic>
        <p:nvPicPr>
          <p:cNvPr id="4" name="Image 0" descr="/home/user/test/brand/templates/../logo/xlrte-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681728"/>
            <a:ext cx="546948" cy="128016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6344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  <a:latin typeface="Jost"/>
                <a:ea typeface="Jost"/>
                <a:cs typeface="Jost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6344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  <a:latin typeface="Jost"/>
                <a:ea typeface="Jost"/>
                <a:cs typeface="Jost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463040"/>
            <a:ext cx="7498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Presentation title in sentence case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880360"/>
            <a:ext cx="7498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BDBDBD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Subtitle — context, audience or date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5544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spc="400" kern="0" dirty="0">
                <a:solidFill>
                  <a:srgbClr val="1A1A1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01 — SECTION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920240"/>
            <a:ext cx="7498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A section header that frames what comes next</a:t>
            </a:r>
            <a:endParaRPr lang="en-US" sz="3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The headline states the takeaway, not the topic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47548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One idea per slide — split if it needs a second headline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Body in Nunito Sans 16 pt, left-aligned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Accent colour for the one thing that matters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760720" y="1371600"/>
            <a:ext cx="2834640" cy="1737360"/>
          </a:xfrm>
          <a:prstGeom prst="rect">
            <a:avLst/>
          </a:prstGeom>
          <a:solidFill>
            <a:srgbClr val="F4F4F4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989320" y="160020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C4421D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NOTE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989320" y="1920240"/>
            <a:ext cx="2377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6B6B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Use a tinted panel — not a stripe — to set supporting information apart.</a:t>
            </a:r>
            <a:endParaRPr lang="en-US" sz="1300" dirty="0"/>
          </a:p>
        </p:txBody>
      </p:sp>
      <p:sp>
        <p:nvSpPr>
          <p:cNvPr id="7" name="Text 0"/>
          <p:cNvSpPr/>
          <p:nvPr>
            <p:ph idx="101" type="body" hasCustomPrompt="1"/>
          </p:nvPr>
        </p:nvSpPr>
        <p:spPr>
          <a:xfrm>
            <a:off x="548640" y="1371600"/>
            <a:ext cx="80467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6344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  <a:latin typeface="Jost"/>
                <a:ea typeface="Jost"/>
                <a:cs typeface="Jost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Key numbers get room to breathe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737360"/>
            <a:ext cx="2468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rgbClr val="E4572E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42%</a:t>
            </a:r>
            <a:endParaRPr lang="en-US" sz="6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83464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6B6B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Headline stat in Jost, accent colour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3291840" y="1737360"/>
            <a:ext cx="2468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rgbClr val="1A1A1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3×</a:t>
            </a:r>
            <a:endParaRPr lang="en-US" sz="6000" dirty="0"/>
          </a:p>
        </p:txBody>
      </p:sp>
      <p:sp>
        <p:nvSpPr>
          <p:cNvPr id="6" name="Text 4"/>
          <p:cNvSpPr txBox="1"/>
          <p:nvPr/>
        </p:nvSpPr>
        <p:spPr>
          <a:xfrm>
            <a:off x="3291840" y="283464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6B6B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Comparison or multiplier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035040" y="1737360"/>
            <a:ext cx="2468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rgbClr val="1A1A1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12</a:t>
            </a:r>
            <a:endParaRPr lang="en-US" sz="6000" dirty="0"/>
          </a:p>
        </p:txBody>
      </p:sp>
      <p:sp>
        <p:nvSpPr>
          <p:cNvPr id="8" name="Text 6"/>
          <p:cNvSpPr txBox="1"/>
          <p:nvPr/>
        </p:nvSpPr>
        <p:spPr>
          <a:xfrm>
            <a:off x="6035040" y="283464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6B6B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Count with a short label</a:t>
            </a:r>
            <a:endParaRPr lang="en-US" sz="1300" dirty="0"/>
          </a:p>
        </p:txBody>
      </p:sp>
      <p:sp>
        <p:nvSpPr>
          <p:cNvPr id="9" name="Text 0"/>
          <p:cNvSpPr/>
          <p:nvPr>
            <p:ph idx="101" type="body" hasCustomPrompt="1"/>
          </p:nvPr>
        </p:nvSpPr>
        <p:spPr>
          <a:xfrm>
            <a:off x="548640" y="1371600"/>
            <a:ext cx="80467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6344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  <a:latin typeface="Jost"/>
                <a:ea typeface="Jost"/>
                <a:cs typeface="Jost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Diagrams: flat shapes, thin lines, one accent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920240"/>
            <a:ext cx="169164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920240"/>
            <a:ext cx="1691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Discover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55448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6B6B6B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01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286000" y="2423160"/>
            <a:ext cx="274320" cy="0"/>
          </a:xfrm>
          <a:prstGeom prst="line">
            <a:avLst/>
          </a:prstGeom>
          <a:noFill/>
          <a:ln w="12700">
            <a:solidFill>
              <a:srgbClr val="1A1A1A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2606040" y="1920240"/>
            <a:ext cx="169164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606040" y="1920240"/>
            <a:ext cx="1691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Define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2606040" y="155448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6B6B6B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02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343400" y="2423160"/>
            <a:ext cx="274320" cy="0"/>
          </a:xfrm>
          <a:prstGeom prst="line">
            <a:avLst/>
          </a:prstGeom>
          <a:noFill/>
          <a:ln w="12700">
            <a:solidFill>
              <a:srgbClr val="1A1A1A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4663440" y="1920240"/>
            <a:ext cx="1691640" cy="1005840"/>
          </a:xfrm>
          <a:prstGeom prst="rec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663440" y="1920240"/>
            <a:ext cx="1691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Design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4663440" y="155448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6B6B6B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03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0" y="2423160"/>
            <a:ext cx="274320" cy="0"/>
          </a:xfrm>
          <a:prstGeom prst="line">
            <a:avLst/>
          </a:prstGeom>
          <a:noFill/>
          <a:ln w="12700">
            <a:solidFill>
              <a:srgbClr val="1A1A1A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6720840" y="1920240"/>
            <a:ext cx="169164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720840" y="1920240"/>
            <a:ext cx="1691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Deliver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720840" y="155448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6B6B6B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04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32918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6B6B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Highlight only the step you are talking about.</a:t>
            </a:r>
            <a:endParaRPr lang="en-US" sz="1300" dirty="0"/>
          </a:p>
        </p:txBody>
      </p:sp>
      <p:sp>
        <p:nvSpPr>
          <p:cNvPr id="19" name="Text 0"/>
          <p:cNvSpPr/>
          <p:nvPr>
            <p:ph idx="101" type="body" hasCustomPrompt="1"/>
          </p:nvPr>
        </p:nvSpPr>
        <p:spPr>
          <a:xfrm>
            <a:off x="548640" y="1371600"/>
            <a:ext cx="80467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6344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  <a:latin typeface="Jost"/>
                <a:ea typeface="Jost"/>
                <a:cs typeface="Jost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Charts: grey plus one accent tells the story</a:t>
            </a:r>
            <a:endParaRPr lang="en-US" sz="28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548640" y="1325880"/>
          <a:ext cx="5120640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989320" y="146304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C4421D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WHY IT WORKS</a:t>
            </a:r>
            <a:endParaRPr lang="en-US" sz="1100" dirty="0"/>
          </a:p>
        </p:txBody>
      </p:sp>
      <p:sp>
        <p:nvSpPr>
          <p:cNvPr id="5" name="Text 2"/>
          <p:cNvSpPr txBox="1"/>
          <p:nvPr/>
        </p:nvSpPr>
        <p:spPr>
          <a:xfrm>
            <a:off x="5989320" y="1783080"/>
            <a:ext cx="2651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Headline states the finding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Only the bar that matters is in the accent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Values labelled, no gridlines, one axis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5989320" y="333756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Series order when colour is needed: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5989320" y="3657600"/>
            <a:ext cx="274320" cy="274320"/>
          </a:xfrm>
          <a:prstGeom prst="rect">
            <a:avLst/>
          </a:prstGeom>
          <a:solidFill>
            <a:srgbClr val="E4572E"/>
          </a:solidFill>
          <a:ln/>
        </p:spPr>
      </p:sp>
      <p:sp>
        <p:nvSpPr>
          <p:cNvPr id="8" name="Shape 5"/>
          <p:cNvSpPr/>
          <p:nvPr/>
        </p:nvSpPr>
        <p:spPr>
          <a:xfrm>
            <a:off x="6355080" y="3657600"/>
            <a:ext cx="274320" cy="2743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" name="Shape 6"/>
          <p:cNvSpPr/>
          <p:nvPr/>
        </p:nvSpPr>
        <p:spPr>
          <a:xfrm>
            <a:off x="6720840" y="3657600"/>
            <a:ext cx="274320" cy="27432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" name="Shape 7"/>
          <p:cNvSpPr/>
          <p:nvPr/>
        </p:nvSpPr>
        <p:spPr>
          <a:xfrm>
            <a:off x="7086600" y="3657600"/>
            <a:ext cx="274320" cy="27432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1" name="Shape 8"/>
          <p:cNvSpPr/>
          <p:nvPr/>
        </p:nvSpPr>
        <p:spPr>
          <a:xfrm>
            <a:off x="7452360" y="3657600"/>
            <a:ext cx="274320" cy="274320"/>
          </a:xfrm>
          <a:prstGeom prst="rect">
            <a:avLst/>
          </a:prstGeom>
          <a:solidFill>
            <a:srgbClr val="4A3AA7"/>
          </a:solidFill>
          <a:ln/>
        </p:spPr>
      </p:sp>
      <p:sp>
        <p:nvSpPr>
          <p:cNvPr id="12" name="Shape 9"/>
          <p:cNvSpPr/>
          <p:nvPr/>
        </p:nvSpPr>
        <p:spPr>
          <a:xfrm>
            <a:off x="7818120" y="3657600"/>
            <a:ext cx="274320" cy="274320"/>
          </a:xfrm>
          <a:prstGeom prst="rect">
            <a:avLst/>
          </a:prstGeom>
          <a:solidFill>
            <a:srgbClr val="E87BA4"/>
          </a:solidFill>
          <a:ln/>
        </p:spPr>
      </p:sp>
      <p:sp>
        <p:nvSpPr>
          <p:cNvPr id="13" name="Shape 10"/>
          <p:cNvSpPr/>
          <p:nvPr/>
        </p:nvSpPr>
        <p:spPr>
          <a:xfrm>
            <a:off x="8183880" y="3657600"/>
            <a:ext cx="274320" cy="274320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14" name="Text 0"/>
          <p:cNvSpPr/>
          <p:nvPr>
            <p:ph idx="101" type="body" hasCustomPrompt="1"/>
          </p:nvPr>
        </p:nvSpPr>
        <p:spPr>
          <a:xfrm>
            <a:off x="548640" y="1371600"/>
            <a:ext cx="80467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6344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  <a:latin typeface="Jost"/>
                <a:ea typeface="Jost"/>
                <a:cs typeface="Jost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Type &amp; colour reference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Jost Bold — Headlines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9202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spc="400" kern="0" dirty="0">
                <a:solidFill>
                  <a:srgbClr val="1A1A1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JOST — SECTION LABELS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377440"/>
            <a:ext cx="4389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Nunito Sans — body text for slides, documents and diagram labels. Readable at small sizes.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29184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Master tier (print / licensed): Futura PT + Avenir Next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852160" y="1325880"/>
            <a:ext cx="457200" cy="457200"/>
          </a:xfrm>
          <a:prstGeom prst="rect">
            <a:avLst/>
          </a:prstGeom>
          <a:solidFill>
            <a:srgbClr val="1A1A1A"/>
          </a:solidFill>
          <a:ln w="9525">
            <a:solidFill>
              <a:srgbClr val="E3E3E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46520" y="141732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ink  #1A1A1A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852160" y="1947672"/>
            <a:ext cx="457200" cy="457200"/>
          </a:xfrm>
          <a:prstGeom prst="rect">
            <a:avLst/>
          </a:prstGeom>
          <a:solidFill>
            <a:srgbClr val="E4572E"/>
          </a:solidFill>
          <a:ln w="9525">
            <a:solidFill>
              <a:srgbClr val="E3E3E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46520" y="203911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accent  #E4572E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852160" y="2569464"/>
            <a:ext cx="457200" cy="457200"/>
          </a:xfrm>
          <a:prstGeom prst="rect">
            <a:avLst/>
          </a:prstGeom>
          <a:solidFill>
            <a:srgbClr val="C4421D"/>
          </a:solidFill>
          <a:ln w="9525">
            <a:solidFill>
              <a:srgbClr val="E3E3E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46520" y="2660904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accent text  #C4421D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852160" y="3191256"/>
            <a:ext cx="457200" cy="457200"/>
          </a:xfrm>
          <a:prstGeom prst="rect">
            <a:avLst/>
          </a:prstGeom>
          <a:solidFill>
            <a:srgbClr val="6B6B6B"/>
          </a:solidFill>
          <a:ln w="9525">
            <a:solidFill>
              <a:srgbClr val="E3E3E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46520" y="3282696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muted  #6B6B6B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852160" y="3813048"/>
            <a:ext cx="457200" cy="457200"/>
          </a:xfrm>
          <a:prstGeom prst="rect">
            <a:avLst/>
          </a:prstGeom>
          <a:solidFill>
            <a:srgbClr val="E3E3E3"/>
          </a:solidFill>
          <a:ln w="9525">
            <a:solidFill>
              <a:srgbClr val="E3E3E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46520" y="390448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line  #E3E3E3</a:t>
            </a:r>
            <a:endParaRPr lang="en-US" sz="1200" dirty="0"/>
          </a:p>
        </p:txBody>
      </p:sp>
      <p:sp>
        <p:nvSpPr>
          <p:cNvPr id="17" name="Text 0"/>
          <p:cNvSpPr/>
          <p:nvPr>
            <p:ph idx="101" type="body" hasCustomPrompt="1"/>
          </p:nvPr>
        </p:nvSpPr>
        <p:spPr>
          <a:xfrm>
            <a:off x="548640" y="1371600"/>
            <a:ext cx="80467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6344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  <a:latin typeface="Jost"/>
                <a:ea typeface="Jost"/>
                <a:cs typeface="Jost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463040"/>
            <a:ext cx="7498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Thank you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880360"/>
            <a:ext cx="7498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BDBDBD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name@example.com · website</a:t>
            </a:r>
            <a:endParaRPr lang="en-US" sz="1800" dirty="0"/>
          </a:p>
        </p:txBody>
      </p:sp>
      <p:pic>
        <p:nvPicPr>
          <p:cNvPr id="4" name="Image 0" descr="P·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40116" y="4526280"/>
            <a:ext cx="355244" cy="27432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Jos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Nunito San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Brand Slides Template v0.4</dc:title>
  <dc:subject>PptxGenJS Presentation</dc:subject>
  <dc:creator>PptxGenJS</dc:creator>
  <cp:lastModifiedBy>PptxGenJS</cp:lastModifiedBy>
  <cp:revision>1</cp:revision>
  <dcterms:created xsi:type="dcterms:W3CDTF">2026-09-24T12:03:45Z</dcterms:created>
  <dcterms:modified xsi:type="dcterms:W3CDTF">2026-09-24T12:03:45Z</dcterms:modified>
</cp:coreProperties>
</file>